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C2833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C2833"/>
                </a:solidFill>
                <a:latin typeface="Arial"/>
              </a:rPr>
              <a:t>AI Agent Market Size ($B)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 Agent Market ($B)</c:v>
                </c:pt>
              </c:strCache>
            </c:strRef>
          </c:tx>
          <c:spPr>
            <a:solidFill>
              <a:srgbClr val="2E86A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1C2833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2025</c:v>
                  </c:pt>
                  <c:pt idx="1">
                    <c:v>2026</c:v>
                  </c:pt>
                  <c:pt idx="2">
                    <c:v>2027</c:v>
                  </c:pt>
                  <c:pt idx="3">
                    <c:v>2028</c:v>
                  </c:pt>
                  <c:pt idx="4">
                    <c:v>2029</c:v>
                  </c:pt>
                  <c:pt idx="5">
                    <c:v>2030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7.8</c:v>
                </c:pt>
                <c:pt idx="1">
                  <c:v>11.4</c:v>
                </c:pt>
                <c:pt idx="2">
                  <c:v>16.7</c:v>
                </c:pt>
                <c:pt idx="3">
                  <c:v>24.4</c:v>
                </c:pt>
                <c:pt idx="4">
                  <c:v>35.7</c:v>
                </c:pt>
                <c:pt idx="5">
                  <c:v>52.6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1C2833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Billions ($)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C2833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C2833"/>
                </a:solidFill>
                <a:latin typeface="Arial"/>
              </a:rPr>
              <a:t>Monthly Cost Comparison (5 users)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Cost ($)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C2833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86AB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SaaS Combo
(5 tools)</c:v>
                  </c:pt>
                  <c:pt idx="1">
                    <c:v>ELUO SYS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300</c:v>
                </c:pt>
                <c:pt idx="1">
                  <c:v>60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C2833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USD / month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844463" y="1555849"/>
            <a:ext cx="3455075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4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ELUO SYS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2844463" y="2362200"/>
            <a:ext cx="3455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On-Premise AI Agency Platform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191000" y="3136850"/>
            <a:ext cx="762000" cy="25301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844463" y="3670102"/>
            <a:ext cx="34550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ELUO C&amp;C  |  2026.03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42900"/>
            <a:ext cx="88087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7950" y="536525"/>
            <a:ext cx="880877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2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Agency Operation Inefficiency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7950" y="1161901"/>
            <a:ext cx="2573834" cy="2031206"/>
          </a:xfrm>
          <a:prstGeom prst="roundRect">
            <a:avLst>
              <a:gd name="adj" fmla="val 375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31763" y="1161901"/>
            <a:ext cx="0" cy="2031206"/>
          </a:xfrm>
          <a:prstGeom prst="line">
            <a:avLst/>
          </a:prstGeom>
          <a:noFill/>
          <a:ln w="47625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4175" y="1390501"/>
            <a:ext cx="2110389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5+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84175" y="1901577"/>
            <a:ext cx="21103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Fragmentation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84175" y="2203103"/>
            <a:ext cx="2110389" cy="761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Notion + Slack + Jira + Drive + Figma scattered across 5+ SaaS tools. Context switching wastes 2+ hours daily.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84934" y="1161901"/>
            <a:ext cx="2573982" cy="2031206"/>
          </a:xfrm>
          <a:prstGeom prst="roundRect">
            <a:avLst>
              <a:gd name="adj" fmla="val 375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308747" y="1161901"/>
            <a:ext cx="0" cy="2031206"/>
          </a:xfrm>
          <a:prstGeom prst="line">
            <a:avLst/>
          </a:prstGeom>
          <a:noFill/>
          <a:ln w="47625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1159" y="1390501"/>
            <a:ext cx="211054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1~2w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561159" y="1901577"/>
            <a:ext cx="211054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Processes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61159" y="2203103"/>
            <a:ext cx="2110541" cy="761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phase takes 1~2 weeks per project. Requirements, IA, WBS all created manually with inconsistent quality.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062067" y="1161901"/>
            <a:ext cx="2573982" cy="2031206"/>
          </a:xfrm>
          <a:prstGeom prst="roundRect">
            <a:avLst>
              <a:gd name="adj" fmla="val 375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085880" y="1161901"/>
            <a:ext cx="0" cy="2031206"/>
          </a:xfrm>
          <a:prstGeom prst="line">
            <a:avLst/>
          </a:prstGeom>
          <a:noFill/>
          <a:ln w="47625">
            <a:solidFill>
              <a:srgbClr val="2E86A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38292" y="1390501"/>
            <a:ext cx="211054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338292" y="1901577"/>
            <a:ext cx="211054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Disconnect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38292" y="2203103"/>
            <a:ext cx="2110541" cy="761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knowledge stays in individual heads. No traceability from requirements to test cases. Onboarding takes weeks.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7950" y="3396258"/>
            <a:ext cx="8128099" cy="730151"/>
          </a:xfrm>
          <a:prstGeom prst="roundRect">
            <a:avLst>
              <a:gd name="adj" fmla="val 6957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145477" y="3548658"/>
            <a:ext cx="90111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5+ SaaS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45477" y="3840659"/>
            <a:ext cx="9011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per project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812363" y="3548658"/>
            <a:ext cx="108206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$300+/mo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2812363" y="3840659"/>
            <a:ext cx="10820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costs (5 users)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657511" y="3548658"/>
            <a:ext cx="116039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1~2 weeks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657511" y="3840659"/>
            <a:ext cx="11603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duration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577769" y="3548658"/>
            <a:ext cx="1425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traceability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577769" y="3840659"/>
            <a:ext cx="14257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 to TC tracking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66700"/>
            <a:ext cx="88087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7950" y="434876"/>
            <a:ext cx="880877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Trend: AI Agent Era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7950" y="838051"/>
            <a:ext cx="88087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 market projected $52.6B by 2030 (CAGR 46.3%)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66011" y="1107877"/>
            <a:ext cx="3170039" cy="430262"/>
          </a:xfrm>
          <a:prstGeom prst="roundRect">
            <a:avLst>
              <a:gd name="adj" fmla="val 1180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618411" y="1196727"/>
            <a:ext cx="29225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TechCrunch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618411" y="1317278"/>
            <a:ext cx="2922544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"SaaSpocalypse" - SaaS replaced by Agents as a Service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466011" y="1614339"/>
            <a:ext cx="3170039" cy="430262"/>
          </a:xfrm>
          <a:prstGeom prst="roundRect">
            <a:avLst>
              <a:gd name="adj" fmla="val 1180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618411" y="1703189"/>
            <a:ext cx="29225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Deloitte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5618411" y="1823740"/>
            <a:ext cx="2922544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Redesign workflows for agent-compatible architecture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466011" y="2120801"/>
            <a:ext cx="3170039" cy="430262"/>
          </a:xfrm>
          <a:prstGeom prst="roundRect">
            <a:avLst>
              <a:gd name="adj" fmla="val 1180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618411" y="2209651"/>
            <a:ext cx="29225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618411" y="2330202"/>
            <a:ext cx="2922544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employee becomes a "human supervisor" of AI agents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466011" y="2627263"/>
            <a:ext cx="3170039" cy="562273"/>
          </a:xfrm>
          <a:prstGeom prst="roundRect">
            <a:avLst>
              <a:gd name="adj" fmla="val 9035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618411" y="2716113"/>
            <a:ext cx="29225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CIO Magazine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5618411" y="2836664"/>
            <a:ext cx="2922544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 organizations will operate AI agents as team members by 2028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07950" y="3495377"/>
            <a:ext cx="2624733" cy="590252"/>
          </a:xfrm>
          <a:prstGeom prst="roundRect">
            <a:avLst>
              <a:gd name="adj" fmla="val 8606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85234" y="3596878"/>
            <a:ext cx="24701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$52.6B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85234" y="3888879"/>
            <a:ext cx="247016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Size 2030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259634" y="3495377"/>
            <a:ext cx="2624733" cy="590252"/>
          </a:xfrm>
          <a:prstGeom prst="roundRect">
            <a:avLst>
              <a:gd name="adj" fmla="val 8606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336917" y="3596878"/>
            <a:ext cx="24701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46.3%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336917" y="3888879"/>
            <a:ext cx="247016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CAGR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6011317" y="3495377"/>
            <a:ext cx="2624733" cy="590252"/>
          </a:xfrm>
          <a:prstGeom prst="roundRect">
            <a:avLst>
              <a:gd name="adj" fmla="val 8606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088600" y="3596878"/>
            <a:ext cx="24701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088600" y="3888879"/>
            <a:ext cx="247016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 Team by 2028</a:t>
            </a:r>
            <a:endParaRPr lang="en-US" sz="700" dirty="0"/>
          </a:p>
        </p:txBody>
      </p:sp>
      <p:graphicFrame>
        <p:nvGraphicFramePr>
          <p:cNvPr id="27" name="Chart 0" descr=""/>
          <p:cNvGraphicFramePr/>
          <p:nvPr/>
        </p:nvGraphicFramePr>
        <p:xfrm>
          <a:off x="507950" y="1107877"/>
          <a:ext cx="34290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42900"/>
            <a:ext cx="88087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7950" y="536525"/>
            <a:ext cx="880877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2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7950" y="1111151"/>
            <a:ext cx="1917650" cy="1148953"/>
          </a:xfrm>
          <a:prstGeom prst="roundRect">
            <a:avLst>
              <a:gd name="adj" fmla="val 663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70029" y="1288852"/>
            <a:ext cx="159349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CCPM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651" y="1517452"/>
            <a:ext cx="1562249" cy="101501"/>
          </a:xfrm>
          <a:prstGeom prst="roundRect">
            <a:avLst>
              <a:gd name="adj" fmla="val 50049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85651" y="1517452"/>
            <a:ext cx="1327845" cy="101501"/>
          </a:xfrm>
          <a:prstGeom prst="roundRect">
            <a:avLst>
              <a:gd name="adj" fmla="val 50049"/>
            </a:avLst>
          </a:prstGeom>
          <a:solidFill>
            <a:srgbClr val="8888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70029" y="1669703"/>
            <a:ext cx="15934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 85%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70029" y="1853803"/>
            <a:ext cx="15934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deployment focus. No planning pipeline.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578001" y="1111151"/>
            <a:ext cx="1917799" cy="1148953"/>
          </a:xfrm>
          <a:prstGeom prst="roundRect">
            <a:avLst>
              <a:gd name="adj" fmla="val 663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740078" y="1288852"/>
            <a:ext cx="159364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agency-agents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55702" y="1517452"/>
            <a:ext cx="1562398" cy="101501"/>
          </a:xfrm>
          <a:prstGeom prst="roundRect">
            <a:avLst>
              <a:gd name="adj" fmla="val 50049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755702" y="1517452"/>
            <a:ext cx="1171724" cy="101501"/>
          </a:xfrm>
          <a:prstGeom prst="roundRect">
            <a:avLst>
              <a:gd name="adj" fmla="val 50049"/>
            </a:avLst>
          </a:prstGeom>
          <a:solidFill>
            <a:srgbClr val="8888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740078" y="1669703"/>
            <a:ext cx="15936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 75% | 54K Stars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40078" y="1853803"/>
            <a:ext cx="15936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catalog only. No pipeline linkage.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648200" y="1111151"/>
            <a:ext cx="1917650" cy="1148953"/>
          </a:xfrm>
          <a:prstGeom prst="roundRect">
            <a:avLst>
              <a:gd name="adj" fmla="val 663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10278" y="1288852"/>
            <a:ext cx="159349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CrewAI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25901" y="1517452"/>
            <a:ext cx="1562249" cy="101501"/>
          </a:xfrm>
          <a:prstGeom prst="roundRect">
            <a:avLst>
              <a:gd name="adj" fmla="val 50049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25901" y="1517452"/>
            <a:ext cx="859185" cy="101501"/>
          </a:xfrm>
          <a:prstGeom prst="roundRect">
            <a:avLst>
              <a:gd name="adj" fmla="val 50049"/>
            </a:avLst>
          </a:prstGeom>
          <a:solidFill>
            <a:srgbClr val="8888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10278" y="1669703"/>
            <a:ext cx="15934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 55% | 45K Stars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10278" y="1853803"/>
            <a:ext cx="15934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multi-agent. Not agency-specific.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718250" y="1111151"/>
            <a:ext cx="1917799" cy="1148953"/>
          </a:xfrm>
          <a:prstGeom prst="roundRect">
            <a:avLst>
              <a:gd name="adj" fmla="val 663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880327" y="1288852"/>
            <a:ext cx="159364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PwC Agent OS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95951" y="1517452"/>
            <a:ext cx="1562398" cy="101501"/>
          </a:xfrm>
          <a:prstGeom prst="roundRect">
            <a:avLst>
              <a:gd name="adj" fmla="val 50049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895951" y="1517452"/>
            <a:ext cx="703064" cy="101501"/>
          </a:xfrm>
          <a:prstGeom prst="roundRect">
            <a:avLst>
              <a:gd name="adj" fmla="val 50049"/>
            </a:avLst>
          </a:prstGeom>
          <a:solidFill>
            <a:srgbClr val="8888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880327" y="1669703"/>
            <a:ext cx="15936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 45%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880327" y="1853803"/>
            <a:ext cx="15936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OS. Different target market.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07950" y="2463254"/>
            <a:ext cx="8128099" cy="961727"/>
          </a:xfrm>
          <a:prstGeom prst="roundRect">
            <a:avLst>
              <a:gd name="adj" fmla="val 7923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61851" y="2666405"/>
            <a:ext cx="777270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Differentiator: What No One Has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61851" y="2939355"/>
            <a:ext cx="245270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Pipeline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61851" y="3078956"/>
            <a:ext cx="245270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QST &gt; REQ &gt; FN &gt; IA &gt; WBS &gt; SB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369618" y="2939355"/>
            <a:ext cx="24528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Traceability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369618" y="3078956"/>
            <a:ext cx="24528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 &gt; FN &gt; UI &gt; TC chain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977533" y="2939355"/>
            <a:ext cx="245270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Self-Check + DA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977533" y="3078956"/>
            <a:ext cx="245270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quality assurance per skill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42900"/>
            <a:ext cx="88087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7950" y="536525"/>
            <a:ext cx="880877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6-Layer Architecture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7950" y="984200"/>
            <a:ext cx="880877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ELUO SYS platform designed as layered, modular system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7950" y="1403152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5664" y="1403152"/>
            <a:ext cx="233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38051" y="1314301"/>
            <a:ext cx="7797998" cy="406301"/>
          </a:xfrm>
          <a:prstGeom prst="roundRect">
            <a:avLst>
              <a:gd name="adj" fmla="val 12503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015752" y="1441252"/>
            <a:ext cx="118726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Scheduling Layer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196310" y="1450777"/>
            <a:ext cx="23072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 jobs, pipeline orchestration, task queue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7950" y="1885652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05664" y="1885652"/>
            <a:ext cx="233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38051" y="1796802"/>
            <a:ext cx="7797998" cy="406301"/>
          </a:xfrm>
          <a:prstGeom prst="roundRect">
            <a:avLst>
              <a:gd name="adj" fmla="val 12503"/>
            </a:avLst>
          </a:prstGeom>
          <a:solidFill>
            <a:srgbClr val="2332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015752" y="1923752"/>
            <a:ext cx="10134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Layer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93644" y="1933277"/>
            <a:ext cx="22079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dashboard, API endpoints, CLI bridge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7950" y="2368153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05664" y="2368153"/>
            <a:ext cx="233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8051" y="2279303"/>
            <a:ext cx="7797998" cy="406301"/>
          </a:xfrm>
          <a:prstGeom prst="roundRect">
            <a:avLst>
              <a:gd name="adj" fmla="val 12503"/>
            </a:avLst>
          </a:prstGeom>
          <a:solidFill>
            <a:srgbClr val="2A3D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015752" y="2406253"/>
            <a:ext cx="7679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Layer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78575" y="2415778"/>
            <a:ext cx="25293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WAL, JSON config, session management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7950" y="2850654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05664" y="2850654"/>
            <a:ext cx="233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8051" y="2761804"/>
            <a:ext cx="7797998" cy="406301"/>
          </a:xfrm>
          <a:prstGeom prst="roundRect">
            <a:avLst>
              <a:gd name="adj" fmla="val 12503"/>
            </a:avLst>
          </a:prstGeom>
          <a:solidFill>
            <a:srgbClr val="3148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015752" y="2888754"/>
            <a:ext cx="11002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Layer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97538" y="2898279"/>
            <a:ext cx="200002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API, MCP servers, skill runtime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7950" y="3333155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05664" y="3333155"/>
            <a:ext cx="233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8051" y="3244304"/>
            <a:ext cx="7797998" cy="406301"/>
          </a:xfrm>
          <a:prstGeom prst="roundRect">
            <a:avLst>
              <a:gd name="adj" fmla="val 12503"/>
            </a:avLst>
          </a:prstGeom>
          <a:solidFill>
            <a:srgbClr val="38536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015752" y="3371255"/>
            <a:ext cx="117937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Layer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951190" y="3380780"/>
            <a:ext cx="25573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memory, design principles, traceability DB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07950" y="3815655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05664" y="3815655"/>
            <a:ext cx="233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38051" y="3726805"/>
            <a:ext cx="7797998" cy="406301"/>
          </a:xfrm>
          <a:prstGeom prst="roundRect">
            <a:avLst>
              <a:gd name="adj" fmla="val 12503"/>
            </a:avLst>
          </a:prstGeom>
          <a:solidFill>
            <a:srgbClr val="3F5E7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1015752" y="3853755"/>
            <a:ext cx="119500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Layer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069806" y="3863280"/>
            <a:ext cx="24363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runtime, file system, Git version control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07950" y="4260056"/>
            <a:ext cx="2607766" cy="741611"/>
          </a:xfrm>
          <a:prstGeom prst="roundRect">
            <a:avLst>
              <a:gd name="adj" fmla="val 685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507950" y="4269581"/>
            <a:ext cx="2607766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0350" y="4406057"/>
            <a:ext cx="23490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On-Premise First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60350" y="4590157"/>
            <a:ext cx="2349026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sovereignty. Client strategies, specs, competitor analysis stored locally.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268117" y="4260056"/>
            <a:ext cx="2607766" cy="741611"/>
          </a:xfrm>
          <a:prstGeom prst="roundRect">
            <a:avLst>
              <a:gd name="adj" fmla="val 685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3268117" y="4269581"/>
            <a:ext cx="2607766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20517" y="4406057"/>
            <a:ext cx="23490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Interface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420517" y="4590157"/>
            <a:ext cx="2349026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communicate via JSON files. Schema validation ensures zero parse failures.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028283" y="4260056"/>
            <a:ext cx="2607766" cy="741611"/>
          </a:xfrm>
          <a:prstGeom prst="roundRect">
            <a:avLst>
              <a:gd name="adj" fmla="val 685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Shape 43"/>
          <p:cNvSpPr/>
          <p:nvPr/>
        </p:nvSpPr>
        <p:spPr>
          <a:xfrm>
            <a:off x="6028283" y="4269581"/>
            <a:ext cx="2607766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80683" y="4406057"/>
            <a:ext cx="23490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!= Review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180683" y="4590157"/>
            <a:ext cx="2349026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models: opus for creation, sonnet for review. Eliminates self-review bias.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92001"/>
            <a:ext cx="88087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7950" y="485626"/>
            <a:ext cx="880877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Features: 19 Domains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7950" y="888802"/>
            <a:ext cx="88087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project management covering all agency workflows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184077"/>
            <a:ext cx="1866751" cy="437852"/>
          </a:xfrm>
          <a:prstGeom prst="roundRect">
            <a:avLst>
              <a:gd name="adj" fmla="val 1160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76250" y="1184077"/>
            <a:ext cx="0" cy="437852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2250" y="1285577"/>
            <a:ext cx="160624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Automation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22250" y="1425178"/>
            <a:ext cx="160624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AI-driven pipeline execution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2400151" y="1184077"/>
            <a:ext cx="1866751" cy="437852"/>
          </a:xfrm>
          <a:prstGeom prst="roundRect">
            <a:avLst>
              <a:gd name="adj" fmla="val 1160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2419201" y="1184077"/>
            <a:ext cx="0" cy="437852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5202" y="1285577"/>
            <a:ext cx="160624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Management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565202" y="1425178"/>
            <a:ext cx="160624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Multi-project dashboard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343102" y="1184077"/>
            <a:ext cx="1866751" cy="437852"/>
          </a:xfrm>
          <a:prstGeom prst="roundRect">
            <a:avLst>
              <a:gd name="adj" fmla="val 1160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362152" y="1184077"/>
            <a:ext cx="0" cy="437852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08153" y="1285577"/>
            <a:ext cx="160624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Board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08153" y="1425178"/>
            <a:ext cx="160624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Kanban + pipeline hybrid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6286054" y="1184077"/>
            <a:ext cx="1866751" cy="437852"/>
          </a:xfrm>
          <a:prstGeom prst="roundRect">
            <a:avLst>
              <a:gd name="adj" fmla="val 1160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6305104" y="1184077"/>
            <a:ext cx="0" cy="437852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51104" y="1285577"/>
            <a:ext cx="160624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451104" y="1425178"/>
            <a:ext cx="160624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Auto-generated docs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57200" y="1698129"/>
            <a:ext cx="1866751" cy="437852"/>
          </a:xfrm>
          <a:prstGeom prst="roundRect">
            <a:avLst>
              <a:gd name="adj" fmla="val 1160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76250" y="1698129"/>
            <a:ext cx="0" cy="437852"/>
          </a:xfrm>
          <a:prstGeom prst="line">
            <a:avLst/>
          </a:prstGeom>
          <a:noFill/>
          <a:ln w="38100">
            <a:solidFill>
              <a:srgbClr val="1C28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2250" y="1799630"/>
            <a:ext cx="160624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22250" y="1939230"/>
            <a:ext cx="160624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channels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2400151" y="1698129"/>
            <a:ext cx="1866751" cy="437852"/>
          </a:xfrm>
          <a:prstGeom prst="roundRect">
            <a:avLst>
              <a:gd name="adj" fmla="val 1160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2419201" y="1698129"/>
            <a:ext cx="0" cy="437852"/>
          </a:xfrm>
          <a:prstGeom prst="line">
            <a:avLst/>
          </a:prstGeom>
          <a:noFill/>
          <a:ln w="38100">
            <a:solidFill>
              <a:srgbClr val="1C28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65202" y="1799630"/>
            <a:ext cx="160624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Base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565202" y="1939230"/>
            <a:ext cx="160624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RAG search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343102" y="1698129"/>
            <a:ext cx="1866751" cy="437852"/>
          </a:xfrm>
          <a:prstGeom prst="roundRect">
            <a:avLst>
              <a:gd name="adj" fmla="val 1160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4362152" y="1698129"/>
            <a:ext cx="0" cy="437852"/>
          </a:xfrm>
          <a:prstGeom prst="line">
            <a:avLst/>
          </a:prstGeom>
          <a:noFill/>
          <a:ln w="38100">
            <a:solidFill>
              <a:srgbClr val="1C28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08153" y="1799630"/>
            <a:ext cx="160624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508153" y="1939230"/>
            <a:ext cx="160624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status view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6286054" y="1698129"/>
            <a:ext cx="1866751" cy="437852"/>
          </a:xfrm>
          <a:prstGeom prst="roundRect">
            <a:avLst>
              <a:gd name="adj" fmla="val 1160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6305104" y="1698129"/>
            <a:ext cx="0" cy="437852"/>
          </a:xfrm>
          <a:prstGeom prst="line">
            <a:avLst/>
          </a:prstGeom>
          <a:noFill/>
          <a:ln w="38100">
            <a:solidFill>
              <a:srgbClr val="1C28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51104" y="1799630"/>
            <a:ext cx="160624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451104" y="1939230"/>
            <a:ext cx="160624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457200" y="2212181"/>
            <a:ext cx="1866751" cy="437852"/>
          </a:xfrm>
          <a:prstGeom prst="roundRect">
            <a:avLst>
              <a:gd name="adj" fmla="val 1160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476250" y="2212181"/>
            <a:ext cx="0" cy="437852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2250" y="2313682"/>
            <a:ext cx="160624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22250" y="2453283"/>
            <a:ext cx="160624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On-premise data control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2400151" y="2212181"/>
            <a:ext cx="1866751" cy="437852"/>
          </a:xfrm>
          <a:prstGeom prst="roundRect">
            <a:avLst>
              <a:gd name="adj" fmla="val 1160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2419201" y="2212181"/>
            <a:ext cx="0" cy="437852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565202" y="2313682"/>
            <a:ext cx="160624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565202" y="2453283"/>
            <a:ext cx="160624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action history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4343102" y="2212181"/>
            <a:ext cx="1866751" cy="437852"/>
          </a:xfrm>
          <a:prstGeom prst="roundRect">
            <a:avLst>
              <a:gd name="adj" fmla="val 1160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4362152" y="2212181"/>
            <a:ext cx="0" cy="437852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08153" y="2313682"/>
            <a:ext cx="160624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508153" y="2453283"/>
            <a:ext cx="160624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snapshots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6286054" y="2212181"/>
            <a:ext cx="1866751" cy="437852"/>
          </a:xfrm>
          <a:prstGeom prst="roundRect">
            <a:avLst>
              <a:gd name="adj" fmla="val 1160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Shape 49"/>
          <p:cNvSpPr/>
          <p:nvPr/>
        </p:nvSpPr>
        <p:spPr>
          <a:xfrm>
            <a:off x="6305104" y="2212181"/>
            <a:ext cx="0" cy="437852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51104" y="2313682"/>
            <a:ext cx="160624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Templates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451104" y="2453283"/>
            <a:ext cx="160624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presets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457200" y="2726234"/>
            <a:ext cx="1866751" cy="437852"/>
          </a:xfrm>
          <a:prstGeom prst="roundRect">
            <a:avLst>
              <a:gd name="adj" fmla="val 1160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Shape 53"/>
          <p:cNvSpPr/>
          <p:nvPr/>
        </p:nvSpPr>
        <p:spPr>
          <a:xfrm>
            <a:off x="476250" y="2726234"/>
            <a:ext cx="0" cy="437852"/>
          </a:xfrm>
          <a:prstGeom prst="line">
            <a:avLst/>
          </a:prstGeom>
          <a:noFill/>
          <a:ln w="38100">
            <a:solidFill>
              <a:srgbClr val="1C283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22250" y="2827734"/>
            <a:ext cx="160624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Handling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22250" y="2967335"/>
            <a:ext cx="160624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Graceful recovery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2400151" y="2726234"/>
            <a:ext cx="1866751" cy="437852"/>
          </a:xfrm>
          <a:prstGeom prst="roundRect">
            <a:avLst>
              <a:gd name="adj" fmla="val 1160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Shape 57"/>
          <p:cNvSpPr/>
          <p:nvPr/>
        </p:nvSpPr>
        <p:spPr>
          <a:xfrm>
            <a:off x="2419201" y="2726234"/>
            <a:ext cx="0" cy="437852"/>
          </a:xfrm>
          <a:prstGeom prst="line">
            <a:avLst/>
          </a:prstGeom>
          <a:noFill/>
          <a:ln w="38100">
            <a:solidFill>
              <a:srgbClr val="1C283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565202" y="2827734"/>
            <a:ext cx="160624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/ PRD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2565202" y="2967335"/>
            <a:ext cx="160624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environment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4343102" y="2726234"/>
            <a:ext cx="1866751" cy="437852"/>
          </a:xfrm>
          <a:prstGeom prst="roundRect">
            <a:avLst>
              <a:gd name="adj" fmla="val 1160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Shape 61"/>
          <p:cNvSpPr/>
          <p:nvPr/>
        </p:nvSpPr>
        <p:spPr>
          <a:xfrm>
            <a:off x="4362152" y="2726234"/>
            <a:ext cx="0" cy="437852"/>
          </a:xfrm>
          <a:prstGeom prst="line">
            <a:avLst/>
          </a:prstGeom>
          <a:noFill/>
          <a:ln w="38100">
            <a:solidFill>
              <a:srgbClr val="1C283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508153" y="2827734"/>
            <a:ext cx="160624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Hooks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4508153" y="2967335"/>
            <a:ext cx="160624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integration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6286054" y="2726234"/>
            <a:ext cx="1866751" cy="437852"/>
          </a:xfrm>
          <a:prstGeom prst="roundRect">
            <a:avLst>
              <a:gd name="adj" fmla="val 1160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Shape 65"/>
          <p:cNvSpPr/>
          <p:nvPr/>
        </p:nvSpPr>
        <p:spPr>
          <a:xfrm>
            <a:off x="6305104" y="2726234"/>
            <a:ext cx="0" cy="437852"/>
          </a:xfrm>
          <a:prstGeom prst="line">
            <a:avLst/>
          </a:prstGeom>
          <a:noFill/>
          <a:ln w="38100">
            <a:solidFill>
              <a:srgbClr val="1C2833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451104" y="2827734"/>
            <a:ext cx="160624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6451104" y="2967335"/>
            <a:ext cx="160624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Auto-generated reports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457200" y="3240286"/>
            <a:ext cx="1866751" cy="437852"/>
          </a:xfrm>
          <a:prstGeom prst="roundRect">
            <a:avLst>
              <a:gd name="adj" fmla="val 1160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Shape 69"/>
          <p:cNvSpPr/>
          <p:nvPr/>
        </p:nvSpPr>
        <p:spPr>
          <a:xfrm>
            <a:off x="476250" y="3240286"/>
            <a:ext cx="0" cy="437852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22250" y="3341787"/>
            <a:ext cx="160624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622250" y="3481388"/>
            <a:ext cx="160624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RESTful endpoints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2400151" y="3240286"/>
            <a:ext cx="1866751" cy="437852"/>
          </a:xfrm>
          <a:prstGeom prst="roundRect">
            <a:avLst>
              <a:gd name="adj" fmla="val 1160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Shape 73"/>
          <p:cNvSpPr/>
          <p:nvPr/>
        </p:nvSpPr>
        <p:spPr>
          <a:xfrm>
            <a:off x="2419201" y="3240286"/>
            <a:ext cx="0" cy="437852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565202" y="3341787"/>
            <a:ext cx="160624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2565202" y="3481388"/>
            <a:ext cx="160624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data import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4343102" y="3240286"/>
            <a:ext cx="1866751" cy="437852"/>
          </a:xfrm>
          <a:prstGeom prst="roundRect">
            <a:avLst>
              <a:gd name="adj" fmla="val 1160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Shape 77"/>
          <p:cNvSpPr/>
          <p:nvPr/>
        </p:nvSpPr>
        <p:spPr>
          <a:xfrm>
            <a:off x="4362152" y="3240286"/>
            <a:ext cx="0" cy="437852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508153" y="3341787"/>
            <a:ext cx="160624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Kanban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4508153" y="3481388"/>
            <a:ext cx="160624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workflow board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42900"/>
            <a:ext cx="88087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7950" y="536525"/>
            <a:ext cx="880877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2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7950" y="1111151"/>
            <a:ext cx="3937099" cy="1100733"/>
          </a:xfrm>
          <a:prstGeom prst="roundRect">
            <a:avLst>
              <a:gd name="adj" fmla="val 692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5651" y="1288852"/>
            <a:ext cx="36533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85651" y="1453902"/>
            <a:ext cx="365333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+ Express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651" y="1714202"/>
            <a:ext cx="365333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Lightweight HTTP server. RESTful API endpoints. SSE for real-time dashboard updates.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7950" y="2338834"/>
            <a:ext cx="3937099" cy="1100733"/>
          </a:xfrm>
          <a:prstGeom prst="roundRect">
            <a:avLst>
              <a:gd name="adj" fmla="val 692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85651" y="2516535"/>
            <a:ext cx="36533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85651" y="2681585"/>
            <a:ext cx="365333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(WAL Mode)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651" y="2941886"/>
            <a:ext cx="365333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Zero-config embedded DB. WAL enables concurrent reads during writes. Single-file backup.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98950" y="1111151"/>
            <a:ext cx="3937099" cy="1100733"/>
          </a:xfrm>
          <a:prstGeom prst="roundRect">
            <a:avLst>
              <a:gd name="adj" fmla="val 692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76651" y="1288852"/>
            <a:ext cx="36533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INTEGRATION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876651" y="1453902"/>
            <a:ext cx="365333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 + Claude API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76651" y="1714202"/>
            <a:ext cx="365333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Context Protocol for tool calling. Opus for creation, Sonnet for review. Structured JSON I/O.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98950" y="2338834"/>
            <a:ext cx="3937099" cy="1100733"/>
          </a:xfrm>
          <a:prstGeom prst="roundRect">
            <a:avLst>
              <a:gd name="adj" fmla="val 692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76651" y="2516535"/>
            <a:ext cx="36533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CONTROL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876651" y="2681585"/>
            <a:ext cx="365333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Hooks + File System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76651" y="2941886"/>
            <a:ext cx="365333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Pre-commit validation. JSON schema checks. Automated deployment pipeline.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7950" y="3617268"/>
            <a:ext cx="3987850" cy="793700"/>
          </a:xfrm>
          <a:prstGeom prst="roundRect">
            <a:avLst>
              <a:gd name="adj" fmla="val 6400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75285" y="3769668"/>
            <a:ext cx="36531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Environment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5285" y="3991868"/>
            <a:ext cx="36531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CLI - Interactive development, skill testing, pipeline prototyping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48200" y="3617268"/>
            <a:ext cx="3987850" cy="793700"/>
          </a:xfrm>
          <a:prstGeom prst="roundRect">
            <a:avLst>
              <a:gd name="adj" fmla="val 6400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815535" y="3769668"/>
            <a:ext cx="36531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 Environment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15535" y="3991868"/>
            <a:ext cx="36531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Daemon - Automated execution, scheduled tasks, production workflows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42900"/>
            <a:ext cx="88087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7950" y="536525"/>
            <a:ext cx="880877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Pipeline: End-to-End Automation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7950" y="984200"/>
            <a:ext cx="88087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requirements to deployment, fully traceable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1447502"/>
            <a:ext cx="7772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95251" y="1304776"/>
            <a:ext cx="1212800" cy="428327"/>
          </a:xfrm>
          <a:prstGeom prst="roundRect">
            <a:avLst>
              <a:gd name="adj" fmla="val 8895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334889" y="1406277"/>
            <a:ext cx="11335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QST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334889" y="1545878"/>
            <a:ext cx="11335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DD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Q&amp;A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2546152" y="1304776"/>
            <a:ext cx="1212949" cy="428327"/>
          </a:xfrm>
          <a:prstGeom prst="roundRect">
            <a:avLst>
              <a:gd name="adj" fmla="val 8895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585787" y="1406277"/>
            <a:ext cx="113367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585787" y="1545878"/>
            <a:ext cx="113367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DD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3797201" y="1304776"/>
            <a:ext cx="1212800" cy="428327"/>
          </a:xfrm>
          <a:prstGeom prst="roundRect">
            <a:avLst>
              <a:gd name="adj" fmla="val 8895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836838" y="1406277"/>
            <a:ext cx="11335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836838" y="1545878"/>
            <a:ext cx="11335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DD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Functions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5048101" y="1304776"/>
            <a:ext cx="1212949" cy="428327"/>
          </a:xfrm>
          <a:prstGeom prst="roundRect">
            <a:avLst>
              <a:gd name="adj" fmla="val 8895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087737" y="1406277"/>
            <a:ext cx="113367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087737" y="1545878"/>
            <a:ext cx="113367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DD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Arch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6299150" y="1304776"/>
            <a:ext cx="1212800" cy="428327"/>
          </a:xfrm>
          <a:prstGeom prst="roundRect">
            <a:avLst>
              <a:gd name="adj" fmla="val 8895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338788" y="1406277"/>
            <a:ext cx="11335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WBS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338788" y="1545878"/>
            <a:ext cx="11335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DD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Breakdown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7550051" y="1304776"/>
            <a:ext cx="1212949" cy="428327"/>
          </a:xfrm>
          <a:prstGeom prst="roundRect">
            <a:avLst>
              <a:gd name="adj" fmla="val 8895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589687" y="1406277"/>
            <a:ext cx="113367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589687" y="1545878"/>
            <a:ext cx="113367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DD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Storyboard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1169316" y="1834604"/>
            <a:ext cx="76688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" y="2166193"/>
            <a:ext cx="7772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295251" y="2078980"/>
            <a:ext cx="1838325" cy="317302"/>
          </a:xfrm>
          <a:prstGeom prst="roundRect">
            <a:avLst>
              <a:gd name="adj" fmla="val 12007"/>
            </a:avLst>
          </a:prstGeom>
          <a:solidFill>
            <a:srgbClr val="1C8C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328633" y="2180481"/>
            <a:ext cx="17715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171676" y="2078980"/>
            <a:ext cx="1838474" cy="317302"/>
          </a:xfrm>
          <a:prstGeom prst="roundRect">
            <a:avLst>
              <a:gd name="adj" fmla="val 12007"/>
            </a:avLst>
          </a:prstGeom>
          <a:solidFill>
            <a:srgbClr val="1C8C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205057" y="2180481"/>
            <a:ext cx="17717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048250" y="2078980"/>
            <a:ext cx="1838325" cy="317302"/>
          </a:xfrm>
          <a:prstGeom prst="roundRect">
            <a:avLst>
              <a:gd name="adj" fmla="val 12007"/>
            </a:avLst>
          </a:prstGeom>
          <a:solidFill>
            <a:srgbClr val="1C8C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081632" y="2180481"/>
            <a:ext cx="17715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924675" y="2078980"/>
            <a:ext cx="1838325" cy="317302"/>
          </a:xfrm>
          <a:prstGeom prst="roundRect">
            <a:avLst>
              <a:gd name="adj" fmla="val 12007"/>
            </a:avLst>
          </a:prstGeom>
          <a:solidFill>
            <a:srgbClr val="1C8C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958057" y="2180481"/>
            <a:ext cx="17715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Spec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169316" y="2497782"/>
            <a:ext cx="76688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65760" y="2829371"/>
            <a:ext cx="7772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295251" y="2742158"/>
            <a:ext cx="1212800" cy="317302"/>
          </a:xfrm>
          <a:prstGeom prst="roundRect">
            <a:avLst>
              <a:gd name="adj" fmla="val 12007"/>
            </a:avLst>
          </a:prstGeom>
          <a:solidFill>
            <a:srgbClr val="D4A84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1334889" y="2843659"/>
            <a:ext cx="11335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Markup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546152" y="2742158"/>
            <a:ext cx="1212949" cy="317302"/>
          </a:xfrm>
          <a:prstGeom prst="roundRect">
            <a:avLst>
              <a:gd name="adj" fmla="val 12007"/>
            </a:avLst>
          </a:prstGeom>
          <a:solidFill>
            <a:srgbClr val="D4A84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2585787" y="2843659"/>
            <a:ext cx="113367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797201" y="2742158"/>
            <a:ext cx="1212800" cy="317302"/>
          </a:xfrm>
          <a:prstGeom prst="roundRect">
            <a:avLst>
              <a:gd name="adj" fmla="val 12007"/>
            </a:avLst>
          </a:prstGeom>
          <a:solidFill>
            <a:srgbClr val="D4A84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3836838" y="2843659"/>
            <a:ext cx="11335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048101" y="2742158"/>
            <a:ext cx="1212949" cy="317302"/>
          </a:xfrm>
          <a:prstGeom prst="roundRect">
            <a:avLst>
              <a:gd name="adj" fmla="val 12007"/>
            </a:avLst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5087737" y="2843659"/>
            <a:ext cx="113367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QA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299150" y="2742158"/>
            <a:ext cx="1212800" cy="317302"/>
          </a:xfrm>
          <a:prstGeom prst="roundRect">
            <a:avLst>
              <a:gd name="adj" fmla="val 12007"/>
            </a:avLst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6338788" y="2843659"/>
            <a:ext cx="11335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A11y QA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550051" y="2742158"/>
            <a:ext cx="1212949" cy="317302"/>
          </a:xfrm>
          <a:prstGeom prst="roundRect">
            <a:avLst>
              <a:gd name="adj" fmla="val 12007"/>
            </a:avLst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7589687" y="2843659"/>
            <a:ext cx="113367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 QA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07950" y="3211860"/>
            <a:ext cx="8128099" cy="641152"/>
          </a:xfrm>
          <a:prstGeom prst="roundRect">
            <a:avLst>
              <a:gd name="adj" fmla="val 11885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761851" y="3456236"/>
            <a:ext cx="96578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Traceability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1962596" y="3389561"/>
            <a:ext cx="635050" cy="285750"/>
          </a:xfrm>
          <a:prstGeom prst="roundRect">
            <a:avLst>
              <a:gd name="adj" fmla="val 13333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2089547" y="3465761"/>
            <a:ext cx="3887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FR-001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2673846" y="3446711"/>
            <a:ext cx="9077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2839045" y="3389561"/>
            <a:ext cx="635050" cy="285750"/>
          </a:xfrm>
          <a:prstGeom prst="roundRect">
            <a:avLst>
              <a:gd name="adj" fmla="val 13333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2965996" y="3465761"/>
            <a:ext cx="3887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FN-001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550295" y="3446711"/>
            <a:ext cx="9077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3715494" y="3389561"/>
            <a:ext cx="597098" cy="285750"/>
          </a:xfrm>
          <a:prstGeom prst="roundRect">
            <a:avLst>
              <a:gd name="adj" fmla="val 13333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3842445" y="3465761"/>
            <a:ext cx="3500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UI-001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4388793" y="3446711"/>
            <a:ext cx="9077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4553992" y="3389561"/>
            <a:ext cx="742950" cy="285750"/>
          </a:xfrm>
          <a:prstGeom prst="roundRect">
            <a:avLst>
              <a:gd name="adj" fmla="val 13333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4680942" y="3465761"/>
            <a:ext cx="4988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TC-F-001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42900"/>
            <a:ext cx="88087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7950" y="536525"/>
            <a:ext cx="880877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2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Comparison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06901" y="1111151"/>
            <a:ext cx="2921198" cy="336352"/>
          </a:xfrm>
          <a:prstGeom prst="roundRect">
            <a:avLst>
              <a:gd name="adj" fmla="val 11327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59301" y="1212652"/>
            <a:ext cx="133436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654418" y="1212652"/>
            <a:ext cx="6671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08518" y="1212652"/>
            <a:ext cx="6671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ELUO SYS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206901" y="1498253"/>
            <a:ext cx="2921198" cy="285750"/>
          </a:xfrm>
          <a:prstGeom prst="roundRect">
            <a:avLst>
              <a:gd name="adj" fmla="val 1333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359301" y="1574453"/>
            <a:ext cx="133436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Cost (5 users)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654418" y="1574453"/>
            <a:ext cx="6671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$300+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08518" y="1574453"/>
            <a:ext cx="6671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206901" y="1834753"/>
            <a:ext cx="2921198" cy="285750"/>
          </a:xfrm>
          <a:prstGeom prst="roundRect">
            <a:avLst>
              <a:gd name="adj" fmla="val 1333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359301" y="1910953"/>
            <a:ext cx="133436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Duration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654418" y="1910953"/>
            <a:ext cx="6671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1~2 weeks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08518" y="1910953"/>
            <a:ext cx="6671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 day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206901" y="2171254"/>
            <a:ext cx="2921198" cy="285750"/>
          </a:xfrm>
          <a:prstGeom prst="roundRect">
            <a:avLst>
              <a:gd name="adj" fmla="val 1333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359301" y="2247454"/>
            <a:ext cx="133436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Traceability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654418" y="2247454"/>
            <a:ext cx="6671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08518" y="2247454"/>
            <a:ext cx="6671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206901" y="2507754"/>
            <a:ext cx="2921198" cy="419100"/>
          </a:xfrm>
          <a:prstGeom prst="roundRect">
            <a:avLst>
              <a:gd name="adj" fmla="val 909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359301" y="2583954"/>
            <a:ext cx="133436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Location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654418" y="2583954"/>
            <a:ext cx="66718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(3rd party)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308518" y="2583954"/>
            <a:ext cx="6671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On-Premise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206901" y="2977604"/>
            <a:ext cx="2921198" cy="285750"/>
          </a:xfrm>
          <a:prstGeom prst="roundRect">
            <a:avLst>
              <a:gd name="adj" fmla="val 1333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359301" y="3053804"/>
            <a:ext cx="133436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Required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654418" y="3053804"/>
            <a:ext cx="6671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5+ SaaS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308518" y="3053804"/>
            <a:ext cx="6671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Platform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7950" y="3549551"/>
            <a:ext cx="8128099" cy="758726"/>
          </a:xfrm>
          <a:prstGeom prst="roundRect">
            <a:avLst>
              <a:gd name="adj" fmla="val 6695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320476" y="3701951"/>
            <a:ext cx="79712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320476" y="4022527"/>
            <a:ext cx="7971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CC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Reduction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234744" y="3701951"/>
            <a:ext cx="82338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10x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3234744" y="4022527"/>
            <a:ext cx="8233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CC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Speed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175995" y="3701951"/>
            <a:ext cx="73868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5175995" y="4022527"/>
            <a:ext cx="7386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CC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Traceability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032712" y="3701951"/>
            <a:ext cx="79059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7032712" y="4022527"/>
            <a:ext cx="7905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CC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Platform</a:t>
            </a:r>
            <a:endParaRPr lang="en-US" sz="900" dirty="0"/>
          </a:p>
        </p:txBody>
      </p:sp>
      <p:graphicFrame>
        <p:nvGraphicFramePr>
          <p:cNvPr id="38" name="Chart 0" descr=""/>
          <p:cNvGraphicFramePr/>
          <p:nvPr/>
        </p:nvGraphicFramePr>
        <p:xfrm>
          <a:off x="507950" y="1111151"/>
          <a:ext cx="38100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42900"/>
            <a:ext cx="88087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7950" y="536525"/>
            <a:ext cx="880877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Dashboard: Project 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7950" y="984200"/>
            <a:ext cx="88087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5-tab project view with sidebar navigation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7950" y="1304776"/>
            <a:ext cx="8128099" cy="3174950"/>
          </a:xfrm>
          <a:prstGeom prst="roundRect">
            <a:avLst>
              <a:gd name="adj" fmla="val 240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7950" y="1304776"/>
            <a:ext cx="1396901" cy="3174950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34901" y="1457176"/>
            <a:ext cx="11658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ELUO SYS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34901" y="1768227"/>
            <a:ext cx="1143000" cy="266700"/>
          </a:xfrm>
          <a:prstGeom prst="roundRect">
            <a:avLst>
              <a:gd name="adj" fmla="val 14286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36402" y="1844427"/>
            <a:ext cx="95879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36402" y="2187327"/>
            <a:ext cx="95879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36402" y="2530227"/>
            <a:ext cx="95879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Kanban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36402" y="2873127"/>
            <a:ext cx="95879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6402" y="3216027"/>
            <a:ext cx="95879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36402" y="3558927"/>
            <a:ext cx="95879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082552" y="1482477"/>
            <a:ext cx="756493" cy="266700"/>
          </a:xfrm>
          <a:prstGeom prst="roundRect">
            <a:avLst>
              <a:gd name="adj" fmla="val 14286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234952" y="1558677"/>
            <a:ext cx="46072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864346" y="1482477"/>
            <a:ext cx="666155" cy="266700"/>
          </a:xfrm>
          <a:prstGeom prst="roundRect">
            <a:avLst>
              <a:gd name="adj" fmla="val 14286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016746" y="1558677"/>
            <a:ext cx="36858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555802" y="1482477"/>
            <a:ext cx="654993" cy="266700"/>
          </a:xfrm>
          <a:prstGeom prst="roundRect">
            <a:avLst>
              <a:gd name="adj" fmla="val 14286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708202" y="1558677"/>
            <a:ext cx="35719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Kanban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236095" y="1482477"/>
            <a:ext cx="863501" cy="266700"/>
          </a:xfrm>
          <a:prstGeom prst="roundRect">
            <a:avLst>
              <a:gd name="adj" fmla="val 14286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388495" y="1558677"/>
            <a:ext cx="5698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124896" y="1482477"/>
            <a:ext cx="733871" cy="266700"/>
          </a:xfrm>
          <a:prstGeom prst="roundRect">
            <a:avLst>
              <a:gd name="adj" fmla="val 14286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277296" y="1558677"/>
            <a:ext cx="43765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082552" y="1876127"/>
            <a:ext cx="2000399" cy="777627"/>
          </a:xfrm>
          <a:prstGeom prst="roundRect">
            <a:avLst>
              <a:gd name="adj" fmla="val 6533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2219027" y="2012603"/>
            <a:ext cx="176199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Projects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2219027" y="2158603"/>
            <a:ext cx="176199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2219027" y="2422029"/>
            <a:ext cx="176199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in Planning, 1 Design, 1 QA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2082552" y="2729954"/>
            <a:ext cx="2000399" cy="777627"/>
          </a:xfrm>
          <a:prstGeom prst="roundRect">
            <a:avLst>
              <a:gd name="adj" fmla="val 6533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2219027" y="2866430"/>
            <a:ext cx="176199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This Week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2219027" y="3012430"/>
            <a:ext cx="176199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2219027" y="3275856"/>
            <a:ext cx="176199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done, 3 in progress, 1 blocked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2082552" y="3583781"/>
            <a:ext cx="2000399" cy="777627"/>
          </a:xfrm>
          <a:prstGeom prst="roundRect">
            <a:avLst>
              <a:gd name="adj" fmla="val 6533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2219027" y="3720257"/>
            <a:ext cx="176199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Sessions Today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2219027" y="3866257"/>
            <a:ext cx="176199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2219027" y="4129683"/>
            <a:ext cx="176199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$4.20 API cost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4184452" y="1876127"/>
            <a:ext cx="4273897" cy="2485281"/>
          </a:xfrm>
          <a:prstGeom prst="roundRect">
            <a:avLst>
              <a:gd name="adj" fmla="val 2044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320927" y="2012603"/>
            <a:ext cx="408096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 Gangnam - Pipeline Progress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320927" y="2228404"/>
            <a:ext cx="635050" cy="177701"/>
          </a:xfrm>
          <a:prstGeom prst="roundRect">
            <a:avLst>
              <a:gd name="adj" fmla="val 14294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314576" y="2228404"/>
            <a:ext cx="647751" cy="1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QST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4994077" y="2228404"/>
            <a:ext cx="635198" cy="177701"/>
          </a:xfrm>
          <a:prstGeom prst="roundRect">
            <a:avLst>
              <a:gd name="adj" fmla="val 14294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4987725" y="2228404"/>
            <a:ext cx="647902" cy="1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5667375" y="2228404"/>
            <a:ext cx="635050" cy="177701"/>
          </a:xfrm>
          <a:prstGeom prst="roundRect">
            <a:avLst>
              <a:gd name="adj" fmla="val 14294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5661025" y="2228404"/>
            <a:ext cx="647751" cy="1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FN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6340525" y="2228404"/>
            <a:ext cx="635050" cy="177701"/>
          </a:xfrm>
          <a:prstGeom prst="roundRect">
            <a:avLst>
              <a:gd name="adj" fmla="val 14294"/>
            </a:avLst>
          </a:prstGeom>
          <a:solidFill>
            <a:srgbClr val="D4A84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334174" y="2228404"/>
            <a:ext cx="647751" cy="1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7013674" y="2228404"/>
            <a:ext cx="635050" cy="177701"/>
          </a:xfrm>
          <a:prstGeom prst="roundRect">
            <a:avLst>
              <a:gd name="adj" fmla="val 14294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7007324" y="2228404"/>
            <a:ext cx="647751" cy="1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6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WBS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7686824" y="2228404"/>
            <a:ext cx="635050" cy="177701"/>
          </a:xfrm>
          <a:prstGeom prst="roundRect">
            <a:avLst>
              <a:gd name="adj" fmla="val 14294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7680473" y="2228404"/>
            <a:ext cx="647751" cy="1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6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4320927" y="2456855"/>
            <a:ext cx="408096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Site Renewal - Pipeline Progress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320927" y="2672655"/>
            <a:ext cx="635050" cy="177701"/>
          </a:xfrm>
          <a:prstGeom prst="roundRect">
            <a:avLst>
              <a:gd name="adj" fmla="val 14294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4314576" y="2672655"/>
            <a:ext cx="647751" cy="1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QST</a:t>
            </a:r>
            <a:endParaRPr lang="en-US" sz="600" dirty="0"/>
          </a:p>
        </p:txBody>
      </p:sp>
      <p:sp>
        <p:nvSpPr>
          <p:cNvPr id="55" name="Text 53"/>
          <p:cNvSpPr/>
          <p:nvPr/>
        </p:nvSpPr>
        <p:spPr>
          <a:xfrm>
            <a:off x="4994077" y="2672655"/>
            <a:ext cx="635198" cy="177701"/>
          </a:xfrm>
          <a:prstGeom prst="roundRect">
            <a:avLst>
              <a:gd name="adj" fmla="val 14294"/>
            </a:avLst>
          </a:prstGeom>
          <a:solidFill>
            <a:srgbClr val="D4A84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4987725" y="2672655"/>
            <a:ext cx="647902" cy="1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</a:t>
            </a:r>
            <a:endParaRPr lang="en-US" sz="600" dirty="0"/>
          </a:p>
        </p:txBody>
      </p:sp>
      <p:sp>
        <p:nvSpPr>
          <p:cNvPr id="57" name="Text 55"/>
          <p:cNvSpPr/>
          <p:nvPr/>
        </p:nvSpPr>
        <p:spPr>
          <a:xfrm>
            <a:off x="5667375" y="2672655"/>
            <a:ext cx="635050" cy="177701"/>
          </a:xfrm>
          <a:prstGeom prst="roundRect">
            <a:avLst>
              <a:gd name="adj" fmla="val 14294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5661025" y="2672655"/>
            <a:ext cx="647751" cy="1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6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FN</a:t>
            </a:r>
            <a:endParaRPr lang="en-US" sz="600" dirty="0"/>
          </a:p>
        </p:txBody>
      </p:sp>
      <p:sp>
        <p:nvSpPr>
          <p:cNvPr id="59" name="Text 57"/>
          <p:cNvSpPr/>
          <p:nvPr/>
        </p:nvSpPr>
        <p:spPr>
          <a:xfrm>
            <a:off x="6340525" y="2672655"/>
            <a:ext cx="635050" cy="177701"/>
          </a:xfrm>
          <a:prstGeom prst="roundRect">
            <a:avLst>
              <a:gd name="adj" fmla="val 14294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6334174" y="2672655"/>
            <a:ext cx="647751" cy="1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6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</a:t>
            </a:r>
            <a:endParaRPr lang="en-US" sz="600" dirty="0"/>
          </a:p>
        </p:txBody>
      </p:sp>
      <p:sp>
        <p:nvSpPr>
          <p:cNvPr id="61" name="Text 59"/>
          <p:cNvSpPr/>
          <p:nvPr/>
        </p:nvSpPr>
        <p:spPr>
          <a:xfrm>
            <a:off x="7013674" y="2672655"/>
            <a:ext cx="635050" cy="177701"/>
          </a:xfrm>
          <a:prstGeom prst="roundRect">
            <a:avLst>
              <a:gd name="adj" fmla="val 14294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7007324" y="2672655"/>
            <a:ext cx="647751" cy="1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6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WBS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7686824" y="2672655"/>
            <a:ext cx="635050" cy="177701"/>
          </a:xfrm>
          <a:prstGeom prst="roundRect">
            <a:avLst>
              <a:gd name="adj" fmla="val 14294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7680473" y="2672655"/>
            <a:ext cx="647751" cy="1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6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</a:t>
            </a:r>
            <a:endParaRPr lang="en-US" sz="600" dirty="0"/>
          </a:p>
        </p:txBody>
      </p:sp>
      <p:sp>
        <p:nvSpPr>
          <p:cNvPr id="65" name="Text 63"/>
          <p:cNvSpPr/>
          <p:nvPr/>
        </p:nvSpPr>
        <p:spPr>
          <a:xfrm>
            <a:off x="4320927" y="2901107"/>
            <a:ext cx="408096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 MVP - Pipeline Progress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4320927" y="3116907"/>
            <a:ext cx="971550" cy="177701"/>
          </a:xfrm>
          <a:prstGeom prst="roundRect">
            <a:avLst>
              <a:gd name="adj" fmla="val 14294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4311211" y="3116907"/>
            <a:ext cx="990981" cy="1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</a:t>
            </a:r>
            <a:endParaRPr lang="en-US" sz="600" dirty="0"/>
          </a:p>
        </p:txBody>
      </p:sp>
      <p:sp>
        <p:nvSpPr>
          <p:cNvPr id="68" name="Text 66"/>
          <p:cNvSpPr/>
          <p:nvPr/>
        </p:nvSpPr>
        <p:spPr>
          <a:xfrm>
            <a:off x="5330577" y="3116907"/>
            <a:ext cx="971699" cy="177701"/>
          </a:xfrm>
          <a:prstGeom prst="roundRect">
            <a:avLst>
              <a:gd name="adj" fmla="val 14294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5320860" y="3116907"/>
            <a:ext cx="991133" cy="1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DK</a:t>
            </a:r>
            <a:endParaRPr lang="en-US" sz="600" dirty="0"/>
          </a:p>
        </p:txBody>
      </p:sp>
      <p:sp>
        <p:nvSpPr>
          <p:cNvPr id="70" name="Text 68"/>
          <p:cNvSpPr/>
          <p:nvPr/>
        </p:nvSpPr>
        <p:spPr>
          <a:xfrm>
            <a:off x="6340376" y="3116907"/>
            <a:ext cx="971699" cy="177701"/>
          </a:xfrm>
          <a:prstGeom prst="roundRect">
            <a:avLst>
              <a:gd name="adj" fmla="val 14294"/>
            </a:avLst>
          </a:prstGeom>
          <a:solidFill>
            <a:srgbClr val="D4A84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6330659" y="3116907"/>
            <a:ext cx="991133" cy="1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</a:t>
            </a:r>
            <a:endParaRPr lang="en-US" sz="600" dirty="0"/>
          </a:p>
        </p:txBody>
      </p:sp>
      <p:sp>
        <p:nvSpPr>
          <p:cNvPr id="72" name="Text 70"/>
          <p:cNvSpPr/>
          <p:nvPr/>
        </p:nvSpPr>
        <p:spPr>
          <a:xfrm>
            <a:off x="7350175" y="3116907"/>
            <a:ext cx="971699" cy="177701"/>
          </a:xfrm>
          <a:prstGeom prst="roundRect">
            <a:avLst>
              <a:gd name="adj" fmla="val 14294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Text 71"/>
          <p:cNvSpPr/>
          <p:nvPr/>
        </p:nvSpPr>
        <p:spPr>
          <a:xfrm>
            <a:off x="7340458" y="3116907"/>
            <a:ext cx="991133" cy="1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6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42900"/>
            <a:ext cx="88087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7950" y="536525"/>
            <a:ext cx="880877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2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7950" y="1111151"/>
            <a:ext cx="3943350" cy="2830413"/>
          </a:xfrm>
          <a:prstGeom prst="roundRect">
            <a:avLst>
              <a:gd name="adj" fmla="val 2692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36550" y="1339751"/>
            <a:ext cx="35558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1 - NOW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6550" y="1574602"/>
            <a:ext cx="355587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Management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6550" y="1917502"/>
            <a:ext cx="35558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000" dirty="0">
                <a:solidFill>
                  <a:srgbClr val="CC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domains, AI-driven agency workflows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6550" y="2212777"/>
            <a:ext cx="3486150" cy="1462088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144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pipeline (QST to SB)</a:t>
            </a:r>
            <a:endParaRPr lang="en-US" sz="900" dirty="0"/>
          </a:p>
          <a:p>
            <a:pPr algn="l" marL="190500" indent="-190500">
              <a:lnSpc>
                <a:spcPts val="144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pipeline (BM to UI)</a:t>
            </a:r>
            <a:endParaRPr lang="en-US" sz="900" dirty="0"/>
          </a:p>
          <a:p>
            <a:pPr algn="l" marL="190500" indent="-190500">
              <a:lnSpc>
                <a:spcPts val="144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pipeline (Markup, Style, Interaction)</a:t>
            </a:r>
            <a:endParaRPr lang="en-US" sz="900" dirty="0"/>
          </a:p>
          <a:p>
            <a:pPr algn="l" marL="190500" indent="-190500">
              <a:lnSpc>
                <a:spcPts val="144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pipeline (Functional, A11y, Performance)</a:t>
            </a:r>
            <a:endParaRPr lang="en-US" sz="900" dirty="0"/>
          </a:p>
          <a:p>
            <a:pPr algn="l" marL="190500" indent="-190500">
              <a:lnSpc>
                <a:spcPts val="144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with 5-tab project view</a:t>
            </a:r>
            <a:endParaRPr lang="en-US" sz="900" dirty="0"/>
          </a:p>
          <a:p>
            <a:pPr algn="l" marL="190500" indent="-190500">
              <a:lnSpc>
                <a:spcPts val="144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Kanban + Pipeline hybrid board</a:t>
            </a:r>
            <a:endParaRPr lang="en-US" sz="900" dirty="0"/>
          </a:p>
          <a:p>
            <a:pPr algn="l" marL="190500" indent="-190500">
              <a:lnSpc>
                <a:spcPts val="144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traceability (FR to TC)</a:t>
            </a:r>
            <a:endParaRPr lang="en-US" sz="900" dirty="0"/>
          </a:p>
          <a:p>
            <a:pPr algn="l" marL="190500" indent="-190500">
              <a:lnSpc>
                <a:spcPts val="144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On-premise deployment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654451" y="1111151"/>
            <a:ext cx="3981599" cy="2830413"/>
          </a:xfrm>
          <a:prstGeom prst="roundRect">
            <a:avLst>
              <a:gd name="adj" fmla="val 2692"/>
            </a:avLst>
          </a:prstGeom>
          <a:solidFill>
            <a:srgbClr val="F8F9FA"/>
          </a:solidFill>
          <a:ln w="19050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902101" y="1358801"/>
            <a:ext cx="35560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2 - NEXT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902101" y="1593652"/>
            <a:ext cx="3556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Operations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02101" y="1936552"/>
            <a:ext cx="35560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Expanding from project to organization level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02101" y="2231827"/>
            <a:ext cx="3486299" cy="1462088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1440"/>
              </a:lnSpc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Inbound lead management</a:t>
            </a:r>
            <a:endParaRPr lang="en-US" sz="900" dirty="0"/>
          </a:p>
          <a:p>
            <a:pPr algn="l" marL="190500" indent="-190500">
              <a:lnSpc>
                <a:spcPts val="1440"/>
              </a:lnSpc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integration</a:t>
            </a:r>
            <a:endParaRPr lang="en-US" sz="900" dirty="0"/>
          </a:p>
          <a:p>
            <a:pPr algn="l" marL="190500" indent="-190500">
              <a:lnSpc>
                <a:spcPts val="1440"/>
              </a:lnSpc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allocation</a:t>
            </a:r>
            <a:endParaRPr lang="en-US" sz="900" dirty="0"/>
          </a:p>
          <a:p>
            <a:pPr algn="l" marL="190500" indent="-190500">
              <a:lnSpc>
                <a:spcPts val="1440"/>
              </a:lnSpc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capacity planning</a:t>
            </a:r>
            <a:endParaRPr lang="en-US" sz="900" dirty="0"/>
          </a:p>
          <a:p>
            <a:pPr algn="l" marL="190500" indent="-190500">
              <a:lnSpc>
                <a:spcPts val="1440"/>
              </a:lnSpc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reporting</a:t>
            </a:r>
            <a:endParaRPr lang="en-US" sz="900" dirty="0"/>
          </a:p>
          <a:p>
            <a:pPr algn="l" marL="190500" indent="-190500">
              <a:lnSpc>
                <a:spcPts val="1440"/>
              </a:lnSpc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portal</a:t>
            </a:r>
            <a:endParaRPr lang="en-US" sz="900" dirty="0"/>
          </a:p>
          <a:p>
            <a:pPr algn="l" marL="190500" indent="-190500">
              <a:lnSpc>
                <a:spcPts val="1440"/>
              </a:lnSpc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Multi-tenant support</a:t>
            </a:r>
            <a:endParaRPr lang="en-US" sz="900" dirty="0"/>
          </a:p>
          <a:p>
            <a:pPr algn="l" marL="190500" indent="-190500">
              <a:lnSpc>
                <a:spcPts val="1440"/>
              </a:lnSpc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analytics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7950" y="4144714"/>
            <a:ext cx="4064050" cy="76200"/>
          </a:xfrm>
          <a:prstGeom prst="roundRect">
            <a:avLst>
              <a:gd name="adj" fmla="val 50000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572000" y="4144714"/>
            <a:ext cx="4064050" cy="76200"/>
          </a:xfrm>
          <a:prstGeom prst="roundRect">
            <a:avLst>
              <a:gd name="adj" fmla="val 50000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07950" y="4271665"/>
            <a:ext cx="414533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Q1~Q2: Phase 1 Build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572000" y="4271665"/>
            <a:ext cx="414533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Q3~Q4: Phase 2 Expansion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148377" y="1343174"/>
            <a:ext cx="2847097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&amp; A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148377" y="2025700"/>
            <a:ext cx="284709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0"/>
              </a:spcAft>
              <a:buNone/>
            </a:pPr>
            <a:r>
              <a:rPr lang="en-US" sz="14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for your attention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90851" y="2616250"/>
            <a:ext cx="762000" cy="25301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148377" y="3022550"/>
            <a:ext cx="28470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ELUO C&amp;C | On-Premise AI Agency Platform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148377" y="3251150"/>
            <a:ext cx="28470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eluo.co.kr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148377" y="3657451"/>
            <a:ext cx="284709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buNone/>
            </a:pPr>
            <a:r>
              <a:rPr lang="en-US" sz="1000" dirty="0">
                <a:solidFill>
                  <a:srgbClr val="55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ELUO SYS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ELUO SYS - On-Premise AI Agency Platform</dc:title>
  <dc:subject>Product Introduction</dc:subject>
  <dc:creator>ELUO C&amp;C</dc:creator>
  <cp:lastModifiedBy>ELUO C&amp;C</cp:lastModifiedBy>
  <cp:revision>1</cp:revision>
  <dcterms:created xsi:type="dcterms:W3CDTF">2026-03-19T08:50:51Z</dcterms:created>
  <dcterms:modified xsi:type="dcterms:W3CDTF">2026-03-19T08:50:51Z</dcterms:modified>
</cp:coreProperties>
</file>